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rthikeya1184/MutualFundAnalytics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1612880" cy="502920"/>
          </a:xfrm>
          <a:prstGeom prst="rect">
            <a:avLst/>
          </a:prstGeom>
          <a:solidFill>
            <a:srgbClr val="2C5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56032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BLUESTOCK  FINTECH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0467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BC9C"/>
                </a:solidFill>
              </a:rPr>
              <a:t>MUTUAL FUND ANALYTICS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389888"/>
            <a:ext cx="57607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5087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FINAL PROJECT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65960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C4DE"/>
                </a:solidFill>
              </a:rPr>
              <a:t>Comprehensive Analysis of Indian Mutual Fund Performance, Risk Metrics,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240280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C4DE"/>
                </a:solidFill>
              </a:rPr>
              <a:t>NAV Trends, Sector Allocation &amp; Investor Insights  (2022 – 2026)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2743200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2761488"/>
            <a:ext cx="2651760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141878"/>
            <a:ext cx="265176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Funds Analyzed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79" y="2697480"/>
            <a:ext cx="2743200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399" y="2761488"/>
            <a:ext cx="2651760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₹39M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399" y="3141878"/>
            <a:ext cx="265176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Total AUM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697480"/>
            <a:ext cx="2743200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59" y="2761488"/>
            <a:ext cx="2651760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3141878"/>
            <a:ext cx="265176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EDA Charts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2697480"/>
            <a:ext cx="2743200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0" y="2761488"/>
            <a:ext cx="2651760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5,000+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141878"/>
            <a:ext cx="265176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Investors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639312"/>
            <a:ext cx="2743200" cy="822960"/>
          </a:xfrm>
          <a:prstGeom prst="rect">
            <a:avLst/>
          </a:prstGeom>
          <a:solidFill>
            <a:srgbClr val="2C5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3703320"/>
            <a:ext cx="2651760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16.72%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083710"/>
            <a:ext cx="265176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Avg CAGR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79" y="3639312"/>
            <a:ext cx="2743200" cy="822960"/>
          </a:xfrm>
          <a:prstGeom prst="rect">
            <a:avLst/>
          </a:prstGeom>
          <a:solidFill>
            <a:srgbClr val="2C5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399" y="3703320"/>
            <a:ext cx="2651760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0.54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399" y="4083710"/>
            <a:ext cx="265176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Avg Sharpe Ratio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639312"/>
            <a:ext cx="2743200" cy="822960"/>
          </a:xfrm>
          <a:prstGeom prst="rect">
            <a:avLst/>
          </a:prstGeom>
          <a:solidFill>
            <a:srgbClr val="2C5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80759" y="3703320"/>
            <a:ext cx="2651760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15.91%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4083710"/>
            <a:ext cx="265176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Avg Alpha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15400" y="3639312"/>
            <a:ext cx="2743200" cy="822960"/>
          </a:xfrm>
          <a:prstGeom prst="rect">
            <a:avLst/>
          </a:prstGeom>
          <a:solidFill>
            <a:srgbClr val="2C5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61120" y="3703320"/>
            <a:ext cx="2651760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53.54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083710"/>
            <a:ext cx="265176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Avg Fund 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617720"/>
            <a:ext cx="11612880" cy="36576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4DE"/>
                </a:solidFill>
              </a:rPr>
              <a:t>Tools:  Python  •  Pandas  •  Power BI  •  SQLite  •  ReportLab  •  python-pptx  •  Git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507492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99BB"/>
                </a:solidFill>
              </a:rPr>
              <a:t>Workspace: MutualFundAnalytics.code-workspace  |  OneDrive/Documents/Analytics Projects/BLUESTOCK FINTECH/MutualFundAnalytics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2880" y="6547104"/>
            <a:ext cx="1197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Bluestock Fintech  |  MutualFundAnalytics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CDD"/>
                </a:solidFill>
              </a:rPr>
              <a:t>Why this project exists and what it set out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987552"/>
            <a:ext cx="5669280" cy="53766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987552"/>
            <a:ext cx="566928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0058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❓  The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44752"/>
            <a:ext cx="50292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" y="15361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4813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No Unified Comparison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755648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Investors lack a single platform to objectively compare 1,000+ mutual fund schemes across consistent, risk-adjusted metrics.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587752"/>
            <a:ext cx="50292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8600" y="26791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6243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Raw CAGR Misleads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898648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Funds market 1Y CAGRs without disclosing Sharpe Ratio, Max Drawdown, or VaR — leading investors to chase performance.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730752"/>
            <a:ext cx="50292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8600" y="3822191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7673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No Open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041648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AMFI's publicly available NAV data has no free, interactive visual analytics layer for retail investors.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873752"/>
            <a:ext cx="50292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8600" y="49651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9103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SIP Abandonment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184648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27.2% of platform investors show AT_RISK payment gap patterns — no automated detection or intervention system exists.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987552"/>
            <a:ext cx="5879592" cy="53766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26480" y="987552"/>
            <a:ext cx="587959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10058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🎯  Project Objectives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1499616"/>
            <a:ext cx="91440" cy="914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14630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Build Automated ETL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171907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5-stage Python pipeline: Extract → Validate → Transform → Feature Eng. → Load. Full logging via run_pipeline.py.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2313432"/>
            <a:ext cx="5833872" cy="274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72200" y="2414016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23774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Compute 6 Performance 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63347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CAGR (1Y/3Y/5Y), Sharpe Ratio, Alpha, Beta, Max Drawdown, VaR/CVaR for all 40 funds.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227832"/>
            <a:ext cx="5833872" cy="274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72200" y="3328416"/>
            <a:ext cx="9144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32918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Conduct 8-Dimensional EDA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54787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15 original charts covering Industry, Performance, Risk, and Investor demographics.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4142232"/>
            <a:ext cx="5833872" cy="274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72200" y="4242816"/>
            <a:ext cx="91440" cy="914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09360" y="42062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Create 4-Page Power BI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46227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Interactive: Industry Overview, Fund Performance, Scorecard, Investor Analytics.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5056632"/>
            <a:ext cx="5833872" cy="274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72200" y="5157216"/>
            <a:ext cx="9144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9360" y="51206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Document &amp; Deploy to GitHub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537667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Clean codebase, docstrings, README.md, v1.0 tagged release at MutualFundAnalytics repo.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82880" y="654710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</a:rPr>
              <a:t>Bluestock Fintech  |  MutualFundAnalytics  |  Mutual Fund Analytics Capstone  |  June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54710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Sources &amp; Project Output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CDD"/>
                </a:solidFill>
              </a:rPr>
              <a:t>All data is publicly available — fully reproducible | Workspace: MutualFundAnalytics/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005840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AB"/>
                </a:solidFill>
              </a:rPr>
              <a:t>INPUT DATA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80160"/>
            <a:ext cx="585216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1325880"/>
            <a:ext cx="169164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1353312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1325880"/>
            <a:ext cx="205740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65960" y="1353312"/>
            <a:ext cx="1965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Data Provided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325880"/>
            <a:ext cx="96012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69080" y="135331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Format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325880"/>
            <a:ext cx="82296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74920" y="13533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Frequency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627632"/>
            <a:ext cx="16916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4" y="165506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AMFI India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1627632"/>
            <a:ext cx="2057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75104" y="1655064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NAV, AUM, Scheme Meta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1627632"/>
            <a:ext cx="9601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78224" y="16550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</a:rPr>
              <a:t>CSV/Text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1627632"/>
            <a:ext cx="8229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84064" y="165506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</a:rPr>
              <a:t>Daily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38528"/>
            <a:ext cx="1691640" cy="301752"/>
          </a:xfrm>
          <a:prstGeom prst="rect">
            <a:avLst/>
          </a:prstGeom>
          <a:solidFill>
            <a:srgbClr val="EAF0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7744" y="196596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mfapi.in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1938528"/>
            <a:ext cx="2057400" cy="301752"/>
          </a:xfrm>
          <a:prstGeom prst="rect">
            <a:avLst/>
          </a:prstGeom>
          <a:solidFill>
            <a:srgbClr val="EAF0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75104" y="196596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Historical NAV REST 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1938528"/>
            <a:ext cx="960120" cy="301752"/>
          </a:xfrm>
          <a:prstGeom prst="rect">
            <a:avLst/>
          </a:prstGeom>
          <a:solidFill>
            <a:srgbClr val="EAF0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078224" y="196596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</a:rPr>
              <a:t>JSON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1938528"/>
            <a:ext cx="822960" cy="301752"/>
          </a:xfrm>
          <a:prstGeom prst="rect">
            <a:avLst/>
          </a:prstGeom>
          <a:solidFill>
            <a:srgbClr val="EAF0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84064" y="1965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</a:rPr>
              <a:t>On-demand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2249424"/>
            <a:ext cx="16916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7744" y="227685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NSE India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0240" y="2249424"/>
            <a:ext cx="2057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975104" y="2276856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NIFTY 50 / TRI Benchmarks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23360" y="2249424"/>
            <a:ext cx="9601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078224" y="227685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</a:rPr>
              <a:t>CSV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2249424"/>
            <a:ext cx="8229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84064" y="227685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</a:rPr>
              <a:t>Daily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560320"/>
            <a:ext cx="1691640" cy="301752"/>
          </a:xfrm>
          <a:prstGeom prst="rect">
            <a:avLst/>
          </a:prstGeom>
          <a:solidFill>
            <a:srgbClr val="EAF0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7744" y="258775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BSE India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20240" y="2560320"/>
            <a:ext cx="2057400" cy="301752"/>
          </a:xfrm>
          <a:prstGeom prst="rect">
            <a:avLst/>
          </a:prstGeom>
          <a:solidFill>
            <a:srgbClr val="EAF0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75104" y="258775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SENSEX / BSE TRI Index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23360" y="2560320"/>
            <a:ext cx="960120" cy="301752"/>
          </a:xfrm>
          <a:prstGeom prst="rect">
            <a:avLst/>
          </a:prstGeom>
          <a:solidFill>
            <a:srgbClr val="EAF0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078224" y="2587752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</a:rPr>
              <a:t>CSV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0" y="2560320"/>
            <a:ext cx="822960" cy="301752"/>
          </a:xfrm>
          <a:prstGeom prst="rect">
            <a:avLst/>
          </a:prstGeom>
          <a:solidFill>
            <a:srgbClr val="EAF0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84064" y="258775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</a:rPr>
              <a:t>Daily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2871216"/>
            <a:ext cx="16916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37744" y="289864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SEBI Portal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20240" y="2871216"/>
            <a:ext cx="2057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975104" y="2898648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Fund Category Classifications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23360" y="2871216"/>
            <a:ext cx="9601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078224" y="289864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</a:rPr>
              <a:t>Web/PDF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0" y="2871216"/>
            <a:ext cx="8229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84064" y="28986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</a:rPr>
              <a:t>Quarterly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1005840"/>
            <a:ext cx="5650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AB"/>
                </a:solidFill>
              </a:rPr>
              <a:t>OUTPUT CSV FILES (MutualFundAnalytics/ root)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55080" y="1280160"/>
            <a:ext cx="565099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355080" y="1325880"/>
            <a:ext cx="228600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00800" y="135331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File Name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86800" y="1325880"/>
            <a:ext cx="54864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732520" y="1353312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Rows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81160" y="1325880"/>
            <a:ext cx="274320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326880" y="135331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Key Columns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1627632"/>
            <a:ext cx="22860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09944" y="16550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86AB"/>
                </a:solidFill>
              </a:rPr>
              <a:t>fund_scorecard.csv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86800" y="1627632"/>
            <a:ext cx="5486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741664" y="165506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40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81160" y="1627632"/>
            <a:ext cx="2743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336024" y="165506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fund_score, cagr, sharpe, alpha, beta, max_dd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55080" y="1938528"/>
            <a:ext cx="2286000" cy="301752"/>
          </a:xfrm>
          <a:prstGeom prst="rect">
            <a:avLst/>
          </a:prstGeom>
          <a:solidFill>
            <a:srgbClr val="EAF0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409944" y="19659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86AB"/>
                </a:solidFill>
              </a:rPr>
              <a:t>cagr_comparison.csv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86800" y="1938528"/>
            <a:ext cx="548640" cy="301752"/>
          </a:xfrm>
          <a:prstGeom prst="rect">
            <a:avLst/>
          </a:prstGeom>
          <a:solidFill>
            <a:srgbClr val="EAF0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741664" y="19659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40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81160" y="1938528"/>
            <a:ext cx="2743200" cy="301752"/>
          </a:xfrm>
          <a:prstGeom prst="rect">
            <a:avLst/>
          </a:prstGeom>
          <a:solidFill>
            <a:srgbClr val="EAF0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336024" y="19659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amfi_code, cagr_1yr, cagr_3yr, cagr_5yr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2249424"/>
            <a:ext cx="22860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409944" y="22768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86AB"/>
                </a:solidFill>
              </a:rPr>
              <a:t>alpha_beta.csv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686800" y="2249424"/>
            <a:ext cx="5486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741664" y="227685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40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281160" y="2249424"/>
            <a:ext cx="2743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336024" y="227685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amfi_code, alpha, beta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55080" y="2560320"/>
            <a:ext cx="2286000" cy="301752"/>
          </a:xfrm>
          <a:prstGeom prst="rect">
            <a:avLst/>
          </a:prstGeom>
          <a:solidFill>
            <a:srgbClr val="EAF0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409944" y="25877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86AB"/>
                </a:solidFill>
              </a:rPr>
              <a:t>var_cvar_report.csv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686800" y="2560320"/>
            <a:ext cx="548640" cy="301752"/>
          </a:xfrm>
          <a:prstGeom prst="rect">
            <a:avLst/>
          </a:prstGeom>
          <a:solidFill>
            <a:srgbClr val="EAF0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741664" y="25877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40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281160" y="2560320"/>
            <a:ext cx="2743200" cy="301752"/>
          </a:xfrm>
          <a:prstGeom prst="rect">
            <a:avLst/>
          </a:prstGeom>
          <a:solidFill>
            <a:srgbClr val="EAF0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336024" y="258775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amfi_code, VaR_95, CVaR_95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355080" y="2871216"/>
            <a:ext cx="22860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409944" y="289864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86AB"/>
                </a:solidFill>
              </a:rPr>
              <a:t>drawdown_periods.csv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686800" y="2871216"/>
            <a:ext cx="5486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741664" y="289864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40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281160" y="2871216"/>
            <a:ext cx="2743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336024" y="28986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peak_date, trough_date, max_drawdown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355080" y="3182112"/>
            <a:ext cx="2286000" cy="301752"/>
          </a:xfrm>
          <a:prstGeom prst="rect">
            <a:avLst/>
          </a:prstGeom>
          <a:solidFill>
            <a:srgbClr val="EAF0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409944" y="32095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86AB"/>
                </a:solidFill>
              </a:rPr>
              <a:t>sip_continuity_report.csv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686800" y="3182112"/>
            <a:ext cx="548640" cy="301752"/>
          </a:xfrm>
          <a:prstGeom prst="rect">
            <a:avLst/>
          </a:prstGeom>
          <a:solidFill>
            <a:srgbClr val="EAF0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741664" y="320954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1,362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281160" y="3182112"/>
            <a:ext cx="2743200" cy="301752"/>
          </a:xfrm>
          <a:prstGeom prst="rect">
            <a:avLst/>
          </a:prstGeom>
          <a:solidFill>
            <a:srgbClr val="EAF0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336024" y="320954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investor_id, gap_days, status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355080" y="3493008"/>
            <a:ext cx="22860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409944" y="35204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86AB"/>
                </a:solidFill>
              </a:rPr>
              <a:t>cohort_analysis.csv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686800" y="3493008"/>
            <a:ext cx="5486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741664" y="352044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281160" y="3493008"/>
            <a:ext cx="2743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336024" y="35204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cohort_year, avg_sip_amount, total_invested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355080" y="3803904"/>
            <a:ext cx="2286000" cy="301752"/>
          </a:xfrm>
          <a:prstGeom prst="rect">
            <a:avLst/>
          </a:prstGeom>
          <a:solidFill>
            <a:srgbClr val="EAF0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409944" y="38313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86AB"/>
                </a:solidFill>
              </a:rPr>
              <a:t>tracking_error.csv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686800" y="3803904"/>
            <a:ext cx="548640" cy="301752"/>
          </a:xfrm>
          <a:prstGeom prst="rect">
            <a:avLst/>
          </a:prstGeom>
          <a:solidFill>
            <a:srgbClr val="EAF0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8741664" y="383133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281160" y="3803904"/>
            <a:ext cx="2743200" cy="301752"/>
          </a:xfrm>
          <a:prstGeom prst="rect">
            <a:avLst/>
          </a:prstGeom>
          <a:solidFill>
            <a:srgbClr val="EAF0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336024" y="383133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amfi_code, tracking_error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2880" y="5806440"/>
            <a:ext cx="2834640" cy="594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28600" y="5870448"/>
            <a:ext cx="2743200" cy="309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40 Funds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28600" y="6127394"/>
            <a:ext cx="2743200" cy="249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Schemes Analyzed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182112" y="5806440"/>
            <a:ext cx="2834640" cy="594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3227832" y="5870448"/>
            <a:ext cx="2743200" cy="309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8 AMCs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227832" y="6127394"/>
            <a:ext cx="2743200" cy="249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Fund Houses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81344" y="5806440"/>
            <a:ext cx="2834640" cy="594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227064" y="5870448"/>
            <a:ext cx="2743200" cy="309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500K+ NAV Points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27064" y="6127394"/>
            <a:ext cx="2743200" cy="249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Data Volume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180576" y="5806440"/>
            <a:ext cx="2834640" cy="594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9226296" y="5870448"/>
            <a:ext cx="2743200" cy="309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2020–2026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226296" y="6127394"/>
            <a:ext cx="2743200" cy="249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Date Range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82880" y="654710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</a:rPr>
              <a:t>Bluestock Fintech  |  MutualFundAnalytics  |  Mutual Fund Analytics Capstone  |  June 2026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338560" y="654710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ETL Pipeline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CDD"/>
                </a:solidFill>
              </a:rPr>
              <a:t>5-stage modular Python pipeline — run_pipeline.py orchestrates all stages with full logging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2148840" cy="7498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024128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
EXTRACT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298448"/>
            <a:ext cx="201168" cy="1828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77440" y="1261872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828800"/>
            <a:ext cx="214884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" y="1837943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BC9C"/>
                </a:solidFill>
              </a:rPr>
              <a:t>extract.py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15798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IN: AMFI URL
mfapi.in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45059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5C"/>
                </a:solidFill>
              </a:rPr>
              <a:t>OUT: raw/nav_raw.csv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005840"/>
            <a:ext cx="2148840" cy="749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06040" y="1024128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
VALIDATE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298448"/>
            <a:ext cx="201168" cy="182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1261872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1828800"/>
            <a:ext cx="214884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06040" y="1837943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BC9C"/>
                </a:solidFill>
              </a:rPr>
              <a:t>validate.py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15798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IN: raw/nav_raw.csv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45059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5C"/>
                </a:solidFill>
              </a:rPr>
              <a:t>OUT: logs/validation.txt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005840"/>
            <a:ext cx="2148840" cy="7498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83480" y="1024128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
TRANSFORM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1298448"/>
            <a:ext cx="201168" cy="1828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0" y="1261872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83480" y="1828800"/>
            <a:ext cx="214884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83480" y="1837943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BC9C"/>
                </a:solidFill>
              </a:rPr>
              <a:t>transform.py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15798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IN: raw/*.csv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45059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5C"/>
                </a:solidFill>
              </a:rPr>
              <a:t>OUT: processed/nav_clean.csv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60920" y="1005840"/>
            <a:ext cx="2148840" cy="749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60920" y="1024128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
FEATURES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0" y="1298448"/>
            <a:ext cx="201168" cy="182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9760" y="1261872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60920" y="1828800"/>
            <a:ext cx="214884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60920" y="1837943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BC9C"/>
                </a:solidFill>
              </a:rPr>
              <a:t>features.py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215798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IN: nav_clean.csv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245059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5C"/>
                </a:solidFill>
              </a:rPr>
              <a:t>OUT: All 8 CSV outputs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38360" y="1005840"/>
            <a:ext cx="2148840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38360" y="1024128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
LOAD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38360" y="1828800"/>
            <a:ext cx="214884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738360" y="1837943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BC9C"/>
                </a:solidFill>
              </a:rPr>
              <a:t>load.py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215798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IN: processed/ folder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245059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5C"/>
                </a:solidFill>
              </a:rPr>
              <a:t>OUT: db/mf_analytics.db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2834640"/>
            <a:ext cx="11731752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2889504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BC9C"/>
                </a:solidFill>
              </a:rPr>
              <a:t>run_pipeline.py  —  Master Orchestrator  |  python run_pipeline.py  |  python run_pipeline.py --stage features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3337560"/>
            <a:ext cx="5760720" cy="3035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28600" y="3337560"/>
            <a:ext cx="5760720" cy="32918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" y="336499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⚙️  Fund Score Formula (0–100)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" y="3749039"/>
            <a:ext cx="14630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01752" y="3794759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BC9C"/>
                </a:solidFill>
              </a:rPr>
              <a:t>Return Rank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10512" y="3785615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86AB"/>
                </a:solidFill>
              </a:rPr>
              <a:t>percentile_rank(cagr)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67328" y="3785615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Absolute wealth creation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2608" y="4224527"/>
            <a:ext cx="14630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01752" y="4270247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BC9C"/>
                </a:solidFill>
              </a:rPr>
              <a:t>Sharpe Rank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0512" y="4261103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86AB"/>
                </a:solidFill>
              </a:rPr>
              <a:t>percentile_rank(sharpe_ratio)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67328" y="4261103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Risk-efficiency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2608" y="4700016"/>
            <a:ext cx="14630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01752" y="4745736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BC9C"/>
                </a:solidFill>
              </a:rPr>
              <a:t>Alpha Rank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10512" y="473659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86AB"/>
                </a:solidFill>
              </a:rPr>
              <a:t>percentile_rank(alpha)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67328" y="473659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Benchmark outperformance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2608" y="5175504"/>
            <a:ext cx="14630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01752" y="5221224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BC9C"/>
                </a:solidFill>
              </a:rPr>
              <a:t>Expense Rank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10512" y="52120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86AB"/>
                </a:solidFill>
              </a:rPr>
              <a:t>percentile_rank(−expense_ratio)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67328" y="521208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Lower cost = higher rank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" y="5650992"/>
            <a:ext cx="14630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01752" y="5696712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BC9C"/>
                </a:solidFill>
              </a:rPr>
              <a:t>Drawdown Rank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10512" y="56875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86AB"/>
                </a:solidFill>
              </a:rPr>
              <a:t>percentile_rank(−|max_drawdown|)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67328" y="568756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Capital protection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2608" y="6153912"/>
            <a:ext cx="5577840" cy="128016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38328" y="6153912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3A5C"/>
                </a:solidFill>
              </a:rPr>
              <a:t>Final Score = mean(5 ranks) × 100  ✅  ICICI Pru Midcap (120505) achieves 100.00 — top in ALL 5 dimensions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45352" y="3337560"/>
            <a:ext cx="5760720" cy="3035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245352" y="3337560"/>
            <a:ext cx="5760720" cy="32918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73368" y="336499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📁  Project Folder Structure (MutualFundAnalytics/)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9360" y="3813048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BC9C"/>
                </a:solidFill>
              </a:rPr>
              <a:t>▶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10528" y="376732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BC9C"/>
                </a:solidFill>
              </a:rPr>
              <a:t>MutualFundAnalytics.code-workspace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10528" y="397764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Open in VS Code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9360" y="4178808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BC9C"/>
                </a:solidFill>
              </a:rPr>
              <a:t>▶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10528" y="413308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BC9C"/>
                </a:solidFill>
              </a:rPr>
              <a:t>bluestock_mf_dashboard.pbix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10528" y="434340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Power BI Dashboard (4 pages)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09360" y="4544568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67E22"/>
                </a:solidFill>
              </a:rPr>
              <a:t>▶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10528" y="449884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67E22"/>
                </a:solidFill>
              </a:rPr>
              <a:t>run_pipeline.py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10528" y="470916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Master pipeline runner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9360" y="4910328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67E22"/>
                </a:solidFill>
              </a:rPr>
              <a:t>▶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10528" y="486460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67E22"/>
                </a:solidFill>
              </a:rPr>
              <a:t>extract.py / validate.py / transform.py / features.py / load.py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10528" y="507492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ETL stage scripts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09360" y="5276088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86AB"/>
                </a:solidFill>
              </a:rPr>
              <a:t>▶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10528" y="523036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86AB"/>
                </a:solidFill>
              </a:rPr>
              <a:t>generate_report.py / generate_presentation.py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10528" y="544068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Report generators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09360" y="5641848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</a:rPr>
              <a:t>▶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10528" y="559612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7AE60"/>
                </a:solidFill>
              </a:rPr>
              <a:t>fund_scorecard.csv  +  8 other CSV outputs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10528" y="580644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Analysis results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9360" y="6007608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55555"/>
                </a:solidFill>
              </a:rPr>
              <a:t>▶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10528" y="596188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</a:rPr>
              <a:t>raw/ → processed/ → db/ → reports/ → logs/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10528" y="617220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Data directories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82880" y="654710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</a:rPr>
              <a:t>Bluestock Fintech  |  MutualFundAnalytics  |  Mutual Fund Analytics Capstone  |  June 2026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338560" y="654710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EDA Highlights  (1/2) — Industry &amp; Market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CDD"/>
                </a:solidFill>
              </a:rPr>
              <a:t>Figures 1–4: Generated by features.py + EDA notebooks from processed CSV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987552"/>
            <a:ext cx="5897880" cy="2606040"/>
          </a:xfrm>
          <a:prstGeom prst="rect">
            <a:avLst/>
          </a:prstGeom>
          <a:solidFill>
            <a:srgbClr val="EEF2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1" y="1042416"/>
            <a:ext cx="5751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AB"/>
                </a:solidFill>
              </a:rPr>
              <a:t>Fund Category Split</a:t>
            </a:r>
          </a:p>
        </p:txBody>
      </p:sp>
      <p:pic>
        <p:nvPicPr>
          <p:cNvPr id="8" name="Picture 7" descr="fund_categ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307592"/>
            <a:ext cx="5769864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3346704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55555"/>
                </a:solidFill>
              </a:rPr>
              <a:t>34 Equity (85%) vs 6 Debt (15%) schemes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3593592"/>
            <a:ext cx="5806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55555"/>
                </a:solidFill>
              </a:rPr>
              <a:t>Fig 1: Fund Category Distribution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987552"/>
            <a:ext cx="5897880" cy="2606040"/>
          </a:xfrm>
          <a:prstGeom prst="rect">
            <a:avLst/>
          </a:prstGeom>
          <a:solidFill>
            <a:srgbClr val="EEF2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45352" y="1042416"/>
            <a:ext cx="5751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AB"/>
                </a:solidFill>
              </a:rPr>
              <a:t>AUM Growth Trends</a:t>
            </a:r>
          </a:p>
        </p:txBody>
      </p:sp>
      <p:pic>
        <p:nvPicPr>
          <p:cNvPr id="13" name="Picture 12" descr="aum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307592"/>
            <a:ext cx="5769864" cy="1920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0" y="3346704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55555"/>
                </a:solidFill>
              </a:rPr>
              <a:t>SBI leads at ₹1.25M Cr (2025) — nearly 2×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593592"/>
            <a:ext cx="5806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55555"/>
                </a:solidFill>
              </a:rPr>
              <a:t>Fig 2: AUM Growth by Fund House (2022–2025)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" y="3730752"/>
            <a:ext cx="5897880" cy="2606040"/>
          </a:xfrm>
          <a:prstGeom prst="rect">
            <a:avLst/>
          </a:prstGeom>
          <a:solidFill>
            <a:srgbClr val="EEF2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0311" y="3785615"/>
            <a:ext cx="5751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AB"/>
                </a:solidFill>
              </a:rPr>
              <a:t>Folio Count Growth</a:t>
            </a:r>
          </a:p>
        </p:txBody>
      </p:sp>
      <p:pic>
        <p:nvPicPr>
          <p:cNvPr id="18" name="Picture 17" descr="folio_grow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050791"/>
            <a:ext cx="5769864" cy="19202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82880" y="6089904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55555"/>
                </a:solidFill>
              </a:rPr>
              <a:t>13.3 Cr → 26.0 Cr folios — 95.5% growth in 4 years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6336792"/>
            <a:ext cx="5806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55555"/>
                </a:solidFill>
              </a:rPr>
              <a:t>Fig 3: Industry Folio Growth (2022–2026)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730752"/>
            <a:ext cx="5897880" cy="2606040"/>
          </a:xfrm>
          <a:prstGeom prst="rect">
            <a:avLst/>
          </a:prstGeom>
          <a:solidFill>
            <a:srgbClr val="EEF2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45352" y="3785615"/>
            <a:ext cx="5751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AB"/>
                </a:solidFill>
              </a:rPr>
              <a:t>Expense Ratio Analysis</a:t>
            </a:r>
          </a:p>
        </p:txBody>
      </p:sp>
      <p:pic>
        <p:nvPicPr>
          <p:cNvPr id="23" name="Picture 22" descr="expense_ratio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4050791"/>
            <a:ext cx="5769864" cy="19202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17920" y="6089904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55555"/>
                </a:solidFill>
              </a:rPr>
              <a:t>Bimodal: Direct 0.6–0.8% vs Regular 1.4–1.65%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36792"/>
            <a:ext cx="5806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55555"/>
                </a:solidFill>
              </a:rPr>
              <a:t>Fig 4: Expense Ratio Distribution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" y="6400800"/>
            <a:ext cx="11887200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2880" y="654710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</a:rPr>
              <a:t>Bluestock Fintech  |  MutualFundAnalytics  |  Mutual Fund Analytics Capstone  |  June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54710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EDA Highlights  (2/2) — Market Flow, Sector &amp; NAV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CDD"/>
                </a:solidFill>
              </a:rPr>
              <a:t>Figures 5–7: Category inflow heatmap, sector allocation donut, and top NAV ranking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987552"/>
            <a:ext cx="5897880" cy="3200400"/>
          </a:xfrm>
          <a:prstGeom prst="rect">
            <a:avLst/>
          </a:prstGeom>
          <a:solidFill>
            <a:srgbClr val="EEF2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1" y="1042416"/>
            <a:ext cx="5751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AB"/>
                </a:solidFill>
              </a:rPr>
              <a:t>Category Net Inflow Heatmap (Apr 2024 – Mar 2025)</a:t>
            </a:r>
          </a:p>
        </p:txBody>
      </p:sp>
      <p:pic>
        <p:nvPicPr>
          <p:cNvPr id="8" name="Picture 7" descr="categor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307592"/>
            <a:ext cx="5769864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3941064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55555"/>
                </a:solidFill>
              </a:rPr>
              <a:t>Fig 5: Liquid funds dominate — ₹20,000–40,000+ Cr net inflows monthly (2024–25)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4297680"/>
            <a:ext cx="5897880" cy="20756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434340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Key Heatmap 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4718303"/>
            <a:ext cx="731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" y="4663440"/>
            <a:ext cx="5541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Liquid: ₹20,000–40,000+ Cr inflows every month — corporate treasury dominance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5102351"/>
            <a:ext cx="731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" y="5047488"/>
            <a:ext cx="5541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Sectoral/Thematic: Second-highest — driven by PSU + infrastructure fund launches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5486399"/>
            <a:ext cx="731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" y="5431536"/>
            <a:ext cx="5541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Equity categories (Mid Cap, ELSS, Flexi): Muted net inflows — high redemptions offset gross flows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870447"/>
            <a:ext cx="731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6616" y="5815583"/>
            <a:ext cx="5541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Gilt &amp; Hybrid: Near-zero — interest rate uncertainty suppressed duration appetite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987552"/>
            <a:ext cx="5806440" cy="2743200"/>
          </a:xfrm>
          <a:prstGeom prst="rect">
            <a:avLst/>
          </a:prstGeom>
          <a:solidFill>
            <a:srgbClr val="EEF2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1042416"/>
            <a:ext cx="5660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AB"/>
                </a:solidFill>
              </a:rPr>
              <a:t>Sector Allocation Across All Funds</a:t>
            </a:r>
          </a:p>
        </p:txBody>
      </p:sp>
      <p:pic>
        <p:nvPicPr>
          <p:cNvPr id="22" name="Picture 21" descr="sector_allocation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307592"/>
            <a:ext cx="5678424" cy="2057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3640" y="3483864"/>
            <a:ext cx="5715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55555"/>
                </a:solidFill>
              </a:rPr>
              <a:t>Fig 6: Banking 19.2%, IT 13.4%, Pharma 12.0% — top 3 = 44.6%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840480"/>
            <a:ext cx="5806440" cy="2532888"/>
          </a:xfrm>
          <a:prstGeom prst="rect">
            <a:avLst/>
          </a:prstGeom>
          <a:solidFill>
            <a:srgbClr val="EEF2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91072" y="3895344"/>
            <a:ext cx="5660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AB"/>
                </a:solidFill>
              </a:rPr>
              <a:t>Top 10 Funds by Latest NAV (₹)</a:t>
            </a:r>
          </a:p>
        </p:txBody>
      </p:sp>
      <p:pic>
        <p:nvPicPr>
          <p:cNvPr id="26" name="Picture 25" descr="top10_funds_na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4160520"/>
            <a:ext cx="5678424" cy="184708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63640" y="6126480"/>
            <a:ext cx="5715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55555"/>
                </a:solidFill>
              </a:rPr>
              <a:t>Fig 7: AMFI 120844 leads at ₹4,250+ — 20+ years of compounding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2880" y="654710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</a:rPr>
              <a:t>Bluestock Fintech  |  MutualFundAnalytics  |  Mutual Fund Analytics Capstone  |  June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54710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Performance Metrics  (1/2) — CAGR, Fund Score &amp; Composite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CDD"/>
                </a:solidFill>
              </a:rPr>
              <a:t>Data source: fund_scorecard.csv + cagr_comparison.csv | 40 funds analyzed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987552"/>
            <a:ext cx="2834640" cy="7498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1051560"/>
            <a:ext cx="2743200" cy="389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16.72%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392448"/>
            <a:ext cx="2743200" cy="314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Avg CAGR (All 40 Funds)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136391" y="987552"/>
            <a:ext cx="2834640" cy="7498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82111" y="1051560"/>
            <a:ext cx="2743200" cy="389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0.54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1" y="1392448"/>
            <a:ext cx="2743200" cy="314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Avg Sharpe Ratio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35624" y="987552"/>
            <a:ext cx="2834640" cy="7498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81344" y="1051560"/>
            <a:ext cx="2743200" cy="389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15.91%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1392448"/>
            <a:ext cx="2743200" cy="314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Avg Alpha vs Benchmark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34856" y="987552"/>
            <a:ext cx="2834640" cy="7498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0576" y="1051560"/>
            <a:ext cx="2743200" cy="389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53.54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576" y="1392448"/>
            <a:ext cx="2743200" cy="314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Avg Fund Score (0–100)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1874519"/>
            <a:ext cx="5852160" cy="3657600"/>
          </a:xfrm>
          <a:prstGeom prst="rect">
            <a:avLst/>
          </a:prstGeom>
          <a:solidFill>
            <a:srgbClr val="EEF2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0311" y="1929384"/>
            <a:ext cx="57058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AB"/>
                </a:solidFill>
              </a:rPr>
              <a:t>Top 10 Funds by 3-Year CAGR</a:t>
            </a:r>
          </a:p>
        </p:txBody>
      </p:sp>
      <p:pic>
        <p:nvPicPr>
          <p:cNvPr id="20" name="Picture 19" descr="top10_cagr_3y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194560"/>
            <a:ext cx="5724144" cy="2971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82880" y="5285231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55555"/>
                </a:solidFill>
              </a:rPr>
              <a:t>Fig 8: All top 10 funds show 3Y CAGR &gt; 27% — far above NIFTY 50 avg of 14–16%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874519"/>
            <a:ext cx="57607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19202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🏆  Top 5 by 3Y CAGR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212848"/>
            <a:ext cx="237744" cy="2468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7648" y="223113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6248" y="2212848"/>
            <a:ext cx="475488" cy="2468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74536" y="2231136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AMFI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2212848"/>
            <a:ext cx="4343400" cy="2468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59168" y="2231136"/>
            <a:ext cx="4306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Fund Name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0" y="2212848"/>
            <a:ext cx="777240" cy="2468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48288" y="2231136"/>
            <a:ext cx="7406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3Y CAGR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468880"/>
            <a:ext cx="23774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27648" y="2487168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0392B"/>
                </a:solidFill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56248" y="2468880"/>
            <a:ext cx="47548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74536" y="2487168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86AB"/>
                </a:solidFill>
              </a:rPr>
              <a:t>119094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2468880"/>
            <a:ext cx="43434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59168" y="2487168"/>
            <a:ext cx="4306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Axis Midcap Fund – Regular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0" y="2468880"/>
            <a:ext cx="77724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448288" y="2487168"/>
            <a:ext cx="7406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7AE60"/>
                </a:solidFill>
              </a:rPr>
              <a:t>35.1%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2697480"/>
            <a:ext cx="237744" cy="219456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27648" y="2715768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0392B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56248" y="2697480"/>
            <a:ext cx="475488" cy="219456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74536" y="2715768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86AB"/>
                </a:solidFill>
              </a:rPr>
              <a:t>148567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40880" y="2697480"/>
            <a:ext cx="4343400" cy="219456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59168" y="2715768"/>
            <a:ext cx="4306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Mirae Asset Large Cap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0" y="2697480"/>
            <a:ext cx="777240" cy="219456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448288" y="2715768"/>
            <a:ext cx="7406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7AE60"/>
                </a:solidFill>
              </a:rPr>
              <a:t>34.0%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2926080"/>
            <a:ext cx="23774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27648" y="2944368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0392B"/>
                </a:solidFill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56248" y="2926080"/>
            <a:ext cx="47548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74536" y="2944368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86AB"/>
                </a:solidFill>
              </a:rPr>
              <a:t>120504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40880" y="2926080"/>
            <a:ext cx="43434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059168" y="2944368"/>
            <a:ext cx="4306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DSP Midcap Fund – Direct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0" y="2926080"/>
            <a:ext cx="77724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1448288" y="2944368"/>
            <a:ext cx="7406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7AE60"/>
                </a:solidFill>
              </a:rPr>
              <a:t>32.5%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3154680"/>
            <a:ext cx="237744" cy="219456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27648" y="3172968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0392B"/>
                </a:solidFill>
              </a:rPr>
              <a:t>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56248" y="3154680"/>
            <a:ext cx="475488" cy="219456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574536" y="3172968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86AB"/>
                </a:solidFill>
              </a:rPr>
              <a:t>100033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40880" y="3154680"/>
            <a:ext cx="4343400" cy="219456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059168" y="3172968"/>
            <a:ext cx="4306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HDFC Mid-Cap Opp. Fund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430000" y="3154680"/>
            <a:ext cx="777240" cy="219456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448288" y="3172968"/>
            <a:ext cx="7406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7AE60"/>
                </a:solidFill>
              </a:rPr>
              <a:t>32.4%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3383280"/>
            <a:ext cx="23774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27648" y="3401568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0392B"/>
                </a:solidFill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56248" y="3383280"/>
            <a:ext cx="47548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574536" y="3401568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86AB"/>
                </a:solidFill>
              </a:rPr>
              <a:t>120505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40880" y="3383280"/>
            <a:ext cx="43434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059168" y="3401568"/>
            <a:ext cx="4306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ICICI Pru Midcap Fund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430000" y="3383280"/>
            <a:ext cx="77724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1448288" y="3401568"/>
            <a:ext cx="7406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7AE60"/>
                </a:solidFill>
              </a:rPr>
              <a:t>31.8%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63640" y="3657600"/>
            <a:ext cx="5760720" cy="1828800"/>
          </a:xfrm>
          <a:prstGeom prst="rect">
            <a:avLst/>
          </a:prstGeom>
          <a:solidFill>
            <a:srgbClr val="EEF2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36792" y="3712463"/>
            <a:ext cx="5614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AB"/>
                </a:solidFill>
              </a:rPr>
              <a:t>Top 10 Funds by Composite Score (0–100)</a:t>
            </a:r>
          </a:p>
        </p:txBody>
      </p:sp>
      <p:pic>
        <p:nvPicPr>
          <p:cNvPr id="74" name="Picture 73" descr="fund_scorecard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3977639"/>
            <a:ext cx="5632704" cy="11430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309359" y="5239512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55555"/>
                </a:solidFill>
              </a:rPr>
              <a:t>Fig 9: Top 10 Fund Scores range 81.6 to 100.0 — tight quality cluster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63640" y="5541264"/>
            <a:ext cx="5760720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400800" y="5577840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BC9C"/>
                </a:solidFill>
              </a:rPr>
              <a:t>⭐  ICICI Pru Midcap (120505): Fund Score 100.00 — top in ALL 5 scoring dimensions: CAGR, Sharpe, Alpha, Expense Efficiency &amp; Drawdown Protection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82880" y="654710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</a:rPr>
              <a:t>Bluestock Fintech  |  MutualFundAnalytics  |  Mutual Fund Analytics Capstone  |  June 2026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338560" y="654710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Performance Metrics  (2/2) — Rolling Sharpe, Risk &amp; Maximum Drawdown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CDD"/>
                </a:solidFill>
              </a:rPr>
              <a:t>Data source: var_cvar_report.csv + drawdown_periods.csv | Risk quantification for all 40 funds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987552"/>
            <a:ext cx="2834640" cy="7132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1051560"/>
            <a:ext cx="2743200" cy="37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−1.47%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372697"/>
            <a:ext cx="2743200" cy="299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Avg VaR (95%)</a:t>
            </a:r>
          </a:p>
        </p:txBody>
      </p:sp>
      <p:sp>
        <p:nvSpPr>
          <p:cNvPr id="9" name="Rectangle 8"/>
          <p:cNvSpPr/>
          <p:nvPr/>
        </p:nvSpPr>
        <p:spPr>
          <a:xfrm>
            <a:off x="3136391" y="987552"/>
            <a:ext cx="2834640" cy="7132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82111" y="1051560"/>
            <a:ext cx="2743200" cy="37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−1.86%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1" y="1372697"/>
            <a:ext cx="2743200" cy="299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Avg CVaR (95%)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35624" y="987552"/>
            <a:ext cx="2834640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81344" y="1051560"/>
            <a:ext cx="2743200" cy="37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888"/>
                </a:solidFill>
              </a:rPr>
              <a:t>−52.57%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1372697"/>
            <a:ext cx="2743200" cy="299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Worst Max Drawdown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34856" y="987552"/>
            <a:ext cx="2834640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0576" y="1051560"/>
            <a:ext cx="2743200" cy="37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888"/>
                </a:solidFill>
              </a:rPr>
              <a:t>2 Ongoing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576" y="1372697"/>
            <a:ext cx="2743200" cy="299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Active Drawdowns (2026)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1828800"/>
            <a:ext cx="5852160" cy="3246120"/>
          </a:xfrm>
          <a:prstGeom prst="rect">
            <a:avLst/>
          </a:prstGeom>
          <a:solidFill>
            <a:srgbClr val="EEF2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0311" y="1883664"/>
            <a:ext cx="57058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AB"/>
                </a:solidFill>
              </a:rPr>
              <a:t>Rolling 90-Day Sharpe Ratio — Top 5 Funds (2022–2026)</a:t>
            </a:r>
          </a:p>
        </p:txBody>
      </p:sp>
      <p:pic>
        <p:nvPicPr>
          <p:cNvPr id="20" name="Picture 19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148840"/>
            <a:ext cx="5724144" cy="2560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82880" y="4828031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55555"/>
                </a:solidFill>
              </a:rPr>
              <a:t>Fig 10: All 5 funds showed negative Sharpe in late-2023/early-2024 (FII selling + rate hike fears)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5166360"/>
            <a:ext cx="109728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8328" y="51389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E86AB"/>
                </a:solidFill>
              </a:rPr>
              <a:t>148567: Mirae Asset Large Cap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53312" y="5166360"/>
            <a:ext cx="109728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08760" y="51389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67E22"/>
                </a:solidFill>
              </a:rPr>
              <a:t>120843: Kotak Flexicap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23744" y="5166360"/>
            <a:ext cx="109728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79192" y="51389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7AE60"/>
                </a:solidFill>
              </a:rPr>
              <a:t>148569: Mirae Tax Saver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5166360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9624" y="51389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0392B"/>
                </a:solidFill>
              </a:rPr>
              <a:t>119551: SBI Bluechip Direct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64608" y="5166360"/>
            <a:ext cx="109728" cy="10972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0056" y="51389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E44AD"/>
                </a:solidFill>
              </a:rPr>
              <a:t>120505: ICICI Pru Midcap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1828800"/>
            <a:ext cx="5760720" cy="2468880"/>
          </a:xfrm>
          <a:prstGeom prst="rect">
            <a:avLst/>
          </a:prstGeom>
          <a:solidFill>
            <a:srgbClr val="EEF2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36792" y="1883664"/>
            <a:ext cx="5614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AB"/>
                </a:solidFill>
              </a:rPr>
              <a:t>Top 10 Worst Maximum Drawdowns</a:t>
            </a:r>
          </a:p>
        </p:txBody>
      </p:sp>
      <p:pic>
        <p:nvPicPr>
          <p:cNvPr id="34" name="Picture 33" descr="max_draw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148840"/>
            <a:ext cx="5632704" cy="17830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309359" y="4050791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55555"/>
                </a:solidFill>
              </a:rPr>
              <a:t>Fig 11: Top 10 worst drawdowns — all 5 worst are Small Cap funds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407408"/>
            <a:ext cx="5760720" cy="19568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445312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</a:rPr>
              <a:t>⚠️  Top 5 Worst Drawdowns — Source: drawdown_periods.csv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773168"/>
            <a:ext cx="566928" cy="23774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36792" y="4791456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AMFI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03720" y="4773168"/>
            <a:ext cx="914400" cy="23774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31152" y="4791456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Max DD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4773168"/>
            <a:ext cx="2331720" cy="23774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891271" y="4791456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Period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41280" y="4773168"/>
            <a:ext cx="1645920" cy="23774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268711" y="4791456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5020056"/>
            <a:ext cx="566928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36792" y="5038344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86AB"/>
                </a:solidFill>
              </a:rPr>
              <a:t>119599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03720" y="5020056"/>
            <a:ext cx="9144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31152" y="5038344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0392B"/>
                </a:solidFill>
              </a:rPr>
              <a:t>-52.57%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63840" y="5020056"/>
            <a:ext cx="2331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891271" y="5038344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Jan 2023→Oct 2025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241280" y="5020056"/>
            <a:ext cx="16459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268711" y="503834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Resolved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5276088"/>
            <a:ext cx="566928" cy="246888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36792" y="5294376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86AB"/>
                </a:solidFill>
              </a:rPr>
              <a:t>119095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03720" y="5276088"/>
            <a:ext cx="914400" cy="246888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31152" y="5294376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0392B"/>
                </a:solidFill>
              </a:rPr>
              <a:t>-51.68%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3840" y="5276088"/>
            <a:ext cx="2331720" cy="246888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891271" y="5294376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May 2025→May 2026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241280" y="5276088"/>
            <a:ext cx="1645920" cy="246888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268711" y="5294376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392B"/>
                </a:solidFill>
              </a:rPr>
              <a:t>🔴 ACTIVE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5532120"/>
            <a:ext cx="566928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36792" y="5550408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86AB"/>
                </a:solidFill>
              </a:rPr>
              <a:t>101207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03720" y="5532120"/>
            <a:ext cx="9144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931152" y="5550408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-35.45%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63840" y="5532120"/>
            <a:ext cx="2331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891271" y="5550408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Nov 2024→May 2026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241280" y="5532120"/>
            <a:ext cx="16459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268711" y="5550408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392B"/>
                </a:solidFill>
              </a:rPr>
              <a:t>🔴 ACTIVE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09360" y="5788152"/>
            <a:ext cx="566928" cy="246888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336792" y="5806440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86AB"/>
                </a:solidFill>
              </a:rPr>
              <a:t>149324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903720" y="5788152"/>
            <a:ext cx="914400" cy="246888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931152" y="5806440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-31.17%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63840" y="5788152"/>
            <a:ext cx="2331720" cy="246888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891271" y="5806440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May 2024→Jan 2025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241280" y="5788152"/>
            <a:ext cx="1645920" cy="246888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268711" y="5806440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Resolved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09360" y="6044184"/>
            <a:ext cx="566928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336792" y="6062472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86AB"/>
                </a:solidFill>
              </a:rPr>
              <a:t>119598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903720" y="6044184"/>
            <a:ext cx="9144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931152" y="6062472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-28.70%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863840" y="6044184"/>
            <a:ext cx="2331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891271" y="6062472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Aug 2024→May 2025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241280" y="6044184"/>
            <a:ext cx="16459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268711" y="6062472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</a:rPr>
              <a:t>Resolved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82880" y="654710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</a:rPr>
              <a:t>Bluestock Fintech  |  MutualFundAnalytics  |  Mutual Fund Analytics Capstone  |  June 2026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338560" y="654710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Power BI Dashboards  (1/2) — Industry Overview &amp; Fund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CDD"/>
                </a:solidFill>
              </a:rPr>
              <a:t>File: bluestock_mf_dashboard.pbix  |  4 interactive pages with live CSV connections and cross-filtering slicers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005840"/>
            <a:ext cx="5897880" cy="3474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" y="1042415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📊  Page 1 — Industry Overview Dashboard</a:t>
            </a:r>
          </a:p>
        </p:txBody>
      </p:sp>
      <p:pic>
        <p:nvPicPr>
          <p:cNvPr id="8" name="Picture 7" descr="das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89888"/>
            <a:ext cx="5897880" cy="3291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37160" y="4718304"/>
            <a:ext cx="5897880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" y="4773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BC9C"/>
                </a:solidFill>
              </a:rPr>
              <a:t>₹39M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0474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0C4DE"/>
                </a:solidFill>
              </a:rPr>
              <a:t>Total AUM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773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BC9C"/>
                </a:solidFill>
              </a:rPr>
              <a:t>31K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0474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0C4DE"/>
                </a:solidFill>
              </a:rPr>
              <a:t>Total SIP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773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BC9C"/>
                </a:solidFill>
              </a:rPr>
              <a:t>416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50474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0C4DE"/>
                </a:solidFill>
              </a:rPr>
              <a:t>Folios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773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BC9C"/>
                </a:solidFill>
              </a:rPr>
              <a:t>14K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0474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0C4DE"/>
                </a:solidFill>
              </a:rPr>
              <a:t>Schemes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5632704"/>
            <a:ext cx="5897880" cy="73152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600" y="568756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● SBI → ICICI → HDFC: Consistent top-3 AUM hierarchy 2022–2025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" y="5961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● SIP Trend: 3× growth from ₹0.1M (2022) to ₹0.3M+ (2025)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005840"/>
            <a:ext cx="576072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3368" y="104241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📈  Page 2 — Fund Performance Analytics</a:t>
            </a:r>
          </a:p>
        </p:txBody>
      </p:sp>
      <p:pic>
        <p:nvPicPr>
          <p:cNvPr id="23" name="Picture 22" descr="dash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89888"/>
            <a:ext cx="5760720" cy="329184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263640" y="4718304"/>
            <a:ext cx="5760720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477316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BC9C"/>
                </a:solidFill>
              </a:rPr>
              <a:t>16.72%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0474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0C4DE"/>
                </a:solidFill>
              </a:rPr>
              <a:t>Avg CAGR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80" y="477316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BC9C"/>
                </a:solidFill>
              </a:rPr>
              <a:t>0.54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80" y="50474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0C4DE"/>
                </a:solidFill>
              </a:rPr>
              <a:t>Avg Sharpe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77316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BC9C"/>
                </a:solidFill>
              </a:rPr>
              <a:t>15.91%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50474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0C4DE"/>
                </a:solidFill>
              </a:rPr>
              <a:t>Avg Alpha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477316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BC9C"/>
                </a:solidFill>
              </a:rPr>
              <a:t>53.54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50474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0C4DE"/>
                </a:solidFill>
              </a:rPr>
              <a:t>Avg Score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5632704"/>
            <a:ext cx="5760720" cy="73152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5080" y="56875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● Sharpe vs Alpha scatter: Strong positive correlation — active mgmt adds 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96188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● Top 10 Scores: AMFI 120505, 148567, 120843, 100033, 148569 form elite cluster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2880" y="654710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</a:rPr>
              <a:t>Bluestock Fintech  |  MutualFundAnalytics  |  Mutual Fund Analytics Capstone  |  June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54710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Power BI Dashboards  (2/2) — Fund Scorecard &amp; Investor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CDD"/>
                </a:solidFill>
              </a:rPr>
              <a:t>All 4 pages connect live to CSV files in MutualFundAnalytics/ — Filters cross-apply across all visuals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005840"/>
            <a:ext cx="589788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" y="1042415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🏆  Page 3 — Fund Scorecard Dashboard</a:t>
            </a:r>
          </a:p>
        </p:txBody>
      </p:sp>
      <p:pic>
        <p:nvPicPr>
          <p:cNvPr id="8" name="Picture 7" descr="dash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89888"/>
            <a:ext cx="5897880" cy="3291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37160" y="4718304"/>
            <a:ext cx="5897880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" y="4773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BC9C"/>
                </a:solidFill>
              </a:rPr>
              <a:t>100.00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0474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0C4DE"/>
                </a:solidFill>
              </a:rPr>
              <a:t>Highest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773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BC9C"/>
                </a:solidFill>
              </a:rPr>
              <a:t>53.54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0474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0C4DE"/>
                </a:solidFill>
              </a:rPr>
              <a:t>Avg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773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BC9C"/>
                </a:solidFill>
              </a:rPr>
              <a:t>30.34%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50474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0C4DE"/>
                </a:solidFill>
              </a:rPr>
              <a:t>Highest Alpha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773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8888"/>
                </a:solidFill>
              </a:rPr>
              <a:t>-52.57%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0474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0C4DE"/>
                </a:solidFill>
              </a:rPr>
              <a:t>Worst Drawdown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5632704"/>
            <a:ext cx="5897880" cy="73152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600" y="568756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● Top 20 funds: ICICI Pru Midcap → Mirae Asset Large Cap → Kotak Flexicap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" y="5961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● Sharpe vs Score bubble: Confirms scoring model — high score = high Sharpe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005840"/>
            <a:ext cx="576072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3368" y="104241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👥  Page 4 — Investor Analytics Dashboard</a:t>
            </a:r>
          </a:p>
        </p:txBody>
      </p:sp>
      <p:pic>
        <p:nvPicPr>
          <p:cNvPr id="23" name="Picture 22" descr="dash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89888"/>
            <a:ext cx="5760720" cy="329184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263640" y="4718304"/>
            <a:ext cx="5760720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477316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BC9C"/>
                </a:solidFill>
              </a:rPr>
              <a:t>5K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0474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0C4DE"/>
                </a:solidFill>
              </a:rPr>
              <a:t>Investors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80" y="477316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BC9C"/>
                </a:solidFill>
              </a:rPr>
              <a:t>₹4bn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80" y="50474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0C4DE"/>
                </a:solidFill>
              </a:rPr>
              <a:t>Investment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77316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BC9C"/>
                </a:solidFill>
              </a:rPr>
              <a:t>₹26.18L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50474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0C4DE"/>
                </a:solidFill>
              </a:rPr>
              <a:t>Avg Income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477316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BC9C"/>
                </a:solidFill>
              </a:rPr>
              <a:t>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50474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0C4DE"/>
                </a:solidFill>
              </a:rPr>
              <a:t>Unique Cities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5632704"/>
            <a:ext cx="5760720" cy="73152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5080" y="56875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● 26–35 age group: 41.1% of investors — millennial-first platform confirmed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96188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● KYC: 91.97% verified | Payment modes split equally at ~₹0.87bn each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2880" y="654710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</a:rPr>
              <a:t>Bluestock Fintech  |  MutualFundAnalytics  |  Mutual Fund Analytics Capstone  |  June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54710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Findings &amp;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CDD"/>
                </a:solidFill>
              </a:rPr>
              <a:t>6 data-driven findings derived directly from MutualFundAnalytics project outputs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024128"/>
            <a:ext cx="3840480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" y="1024128"/>
            <a:ext cx="384048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" y="1024128"/>
            <a:ext cx="411480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" y="107899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06984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Mid-Cap is India's Performance Sweet Spot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481328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3 of top 5 composite-scored funds are Mid-Cap.
They combine India's corporate growth story
with better liquidity than small-caps.
Top 3Y CAGR: Axis Midcap at 35.1%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2715768"/>
            <a:ext cx="3840480" cy="411480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" y="273405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7AE60"/>
                </a:solidFill>
              </a:rPr>
              <a:t>▶  Score &gt; 80: ICICI Midcap, HDFC MidCap, Axis Midcap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29260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▶  Best 3Y CAGR: 35.1% (Axis Midcap, AMFI 119094)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024128"/>
            <a:ext cx="3840480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0" y="1024128"/>
            <a:ext cx="3840480" cy="3840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0" y="1024128"/>
            <a:ext cx="411480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0" y="107899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06984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Folio Growth is Accelerating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481328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13.3 Cr (Jan 2022) → 26.0 Cr (Jan 2026).
Sharpest growth rate in 2024–2026 period.
Structural bull market in retail adoption.
CMGR: 1.4%/month = 18% annual addition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715768"/>
            <a:ext cx="3840480" cy="411480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06240" y="273405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86AB"/>
                </a:solidFill>
              </a:rPr>
              <a:t>▶  Folios nearly doubled in 4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9260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▶  Coincides with BSE Sensex crossing 70,000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1024128"/>
            <a:ext cx="3840480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92440" y="1024128"/>
            <a:ext cx="384048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92440" y="1024128"/>
            <a:ext cx="411480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92440" y="107899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106984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Expense Ratio: The Hidden Return Killer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1481328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Bimodal distribution: 40% at 0.6–0.8%
(direct plans), 60% at 1.4–1.65% (regular).
0.85% annual gap compounds to 17%+
extra corpus over 20 years at 20% CAGR.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2715768"/>
            <a:ext cx="3840480" cy="411480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83879" y="273405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67E22"/>
                </a:solidFill>
              </a:rPr>
              <a:t>▶  Direct plan saves 0.85% annually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29260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▶  Over 20 years: 17%+ more final corpus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" y="3703320"/>
            <a:ext cx="3840480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37160" y="3703320"/>
            <a:ext cx="384048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37160" y="3703320"/>
            <a:ext cx="411480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7160" y="375818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7490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Small-Cap Tail Risk Is Active &amp; Unresolved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" y="4160520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All 5 worst drawdowns are small-cap funds.
2 drawdowns (Axis -51.7%, ABSL -35.5%)
have trough dates of May–June 2026 —
still ONGOING at time of analysis.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7160" y="5394960"/>
            <a:ext cx="3840480" cy="411480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28600" y="54132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392B"/>
                </a:solidFill>
              </a:rPr>
              <a:t>▶  Worst drawdown: -52.57% (AMFI 119599)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" y="56052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▶  4.7× more risk vs Mirae Large Cap (-11.3%)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3703320"/>
            <a:ext cx="3840480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114800" y="3703320"/>
            <a:ext cx="384048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14800" y="3703320"/>
            <a:ext cx="411480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14800" y="375818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37490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Punjab &amp; Tamil Nadu Are Emerging MF Hubs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4160520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Both lead investor count (~3,000 each)
and SIP volume (~₹32 Cr each).
Maharashtra NOT in top 10 — confirms
successful B30 city penetration strategy.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0" y="5394960"/>
            <a:ext cx="3840480" cy="411480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06240" y="54132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E44AD"/>
                </a:solidFill>
              </a:rPr>
              <a:t>▶  Punjab #1 by both investors AND SIP volume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56052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▶  12 states contribute ₹35–38 Cr/month SIP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92440" y="3703320"/>
            <a:ext cx="3840480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092440" y="3703320"/>
            <a:ext cx="3840480" cy="38404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092440" y="3703320"/>
            <a:ext cx="411480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92440" y="375818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9640" y="37490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1,362 SIP Investors At Risk (27.2%)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3879" y="4160520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AT_RISK classification: avg payment gap
of 64.9 days across 1,362 investors.
Tiered intervention: CRITICAL→HIGH→
MEDIUM based on gap duration.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92440" y="5394960"/>
            <a:ext cx="3840480" cy="411480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54132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BC9C"/>
                </a:solidFill>
              </a:rPr>
              <a:t>▶  2024 Cohort AUM: ₹3,491 Crore (99.1%)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83879" y="56052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▶  2025 Cohort: Higher avg SIP = ₹1,09,158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82880" y="654710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</a:rPr>
              <a:t>Bluestock Fintech  |  MutualFundAnalytics  |  Mutual Fund Analytics Capstone  |  June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38560" y="654710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502920"/>
            <a:ext cx="121916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600200"/>
            <a:ext cx="576072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0" y="1691640"/>
            <a:ext cx="301752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1810512"/>
            <a:ext cx="121916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C4DE"/>
                </a:solidFill>
              </a:rPr>
              <a:t>Bluestock Fintech  |  Mutual Fund Analytics Capstone  |  MutualFundAnalytics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19456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799BB"/>
                </a:solidFill>
              </a:rPr>
              <a:t>Workspace: MutualFundAnalytics.code-workspace  |  GitHub: v1.0 tag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97480"/>
            <a:ext cx="2743200" cy="8046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2761488"/>
            <a:ext cx="2651760" cy="418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40 Funds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132002"/>
            <a:ext cx="2651760" cy="337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Schemes Analyzed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79" y="2697480"/>
            <a:ext cx="2743200" cy="8046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399" y="2761488"/>
            <a:ext cx="2651760" cy="418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15 Charts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399" y="3132002"/>
            <a:ext cx="2651760" cy="337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Original EDA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697480"/>
            <a:ext cx="2743200" cy="8046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80759" y="2761488"/>
            <a:ext cx="2651760" cy="418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4 Pages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3132002"/>
            <a:ext cx="2651760" cy="337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Power BI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2697480"/>
            <a:ext cx="2743200" cy="8046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0" y="2761488"/>
            <a:ext cx="2651760" cy="418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8 CSVs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132002"/>
            <a:ext cx="2651760" cy="337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Output Datasets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57600"/>
            <a:ext cx="2743200" cy="804672"/>
          </a:xfrm>
          <a:prstGeom prst="rect">
            <a:avLst/>
          </a:prstGeom>
          <a:solidFill>
            <a:srgbClr val="2C5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3721608"/>
            <a:ext cx="2651760" cy="418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100.00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092122"/>
            <a:ext cx="2651760" cy="337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Highest Fund Score (ICICI Pru Midcap)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79" y="3657600"/>
            <a:ext cx="2743200" cy="804672"/>
          </a:xfrm>
          <a:prstGeom prst="rect">
            <a:avLst/>
          </a:prstGeom>
          <a:solidFill>
            <a:srgbClr val="2C5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399" y="3721608"/>
            <a:ext cx="2651760" cy="418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35.1%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399" y="4092122"/>
            <a:ext cx="2651760" cy="337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Best 3Y CAGR (Axis Midcap)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657600"/>
            <a:ext cx="2743200" cy="804672"/>
          </a:xfrm>
          <a:prstGeom prst="rect">
            <a:avLst/>
          </a:prstGeom>
          <a:solidFill>
            <a:srgbClr val="2C5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80759" y="3721608"/>
            <a:ext cx="2651760" cy="418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9988"/>
                </a:solidFill>
              </a:rPr>
              <a:t>1,362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59" y="4092122"/>
            <a:ext cx="2651760" cy="337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SIP At-Risk Investors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15400" y="3657600"/>
            <a:ext cx="2743200" cy="804672"/>
          </a:xfrm>
          <a:prstGeom prst="rect">
            <a:avLst/>
          </a:prstGeom>
          <a:solidFill>
            <a:srgbClr val="2C5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0" y="3721608"/>
            <a:ext cx="2651760" cy="418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v1.0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092122"/>
            <a:ext cx="2651760" cy="337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GitHub Release Tag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617720"/>
            <a:ext cx="11612880" cy="45720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663440"/>
            <a:ext cx="11247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 dirty="0">
                <a:solidFill>
                  <a:srgbClr val="1ABC9C"/>
                </a:solidFill>
              </a:rPr>
              <a:t>📁  GitHub:  </a:t>
            </a:r>
            <a:r>
              <a:rPr lang="en-IN" sz="1000" dirty="0">
                <a:hlinkClick r:id="rId2"/>
              </a:rPr>
              <a:t>Karthikeya1184/</a:t>
            </a:r>
            <a:r>
              <a:rPr lang="en-IN" sz="1000" dirty="0" err="1">
                <a:hlinkClick r:id="rId2"/>
              </a:rPr>
              <a:t>MutualFundAnalytics</a:t>
            </a:r>
            <a:r>
              <a:rPr sz="950" b="0" i="0" dirty="0">
                <a:solidFill>
                  <a:srgbClr val="1ABC9C"/>
                </a:solidFill>
              </a:rPr>
              <a:t>  |  Branch: main  |  Tag: v1.0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46320"/>
            <a:ext cx="112471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 dirty="0">
                <a:solidFill>
                  <a:srgbClr val="B0C4DE"/>
                </a:solidFill>
              </a:rPr>
              <a:t>📊  Dashboard:  </a:t>
            </a:r>
            <a:r>
              <a:rPr sz="950" b="0" i="0" dirty="0" err="1">
                <a:solidFill>
                  <a:srgbClr val="B0C4DE"/>
                </a:solidFill>
              </a:rPr>
              <a:t>bluestock_mf_dashboard.pbix</a:t>
            </a:r>
            <a:r>
              <a:rPr sz="950" b="0" i="0" dirty="0">
                <a:solidFill>
                  <a:srgbClr val="B0C4DE"/>
                </a:solidFill>
              </a:rPr>
              <a:t>  |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193792"/>
            <a:ext cx="11612880" cy="347472"/>
          </a:xfrm>
          <a:prstGeom prst="rect">
            <a:avLst/>
          </a:prstGeom>
          <a:solidFill>
            <a:srgbClr val="0D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523951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799BB"/>
                </a:solidFill>
              </a:rPr>
              <a:t>Data Sources: AMFI India (amfiindia.com)  •  mfapi.in  •  NSE India  •  BSE India  •  SEBI Portal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623560"/>
            <a:ext cx="1161288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566928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799BB"/>
                </a:solidFill>
              </a:rPr>
              <a:t>Tools: Python 3.10  •  Pandas  •  NumPy  •  Matplotlib  •  Seaborn  •  Power BI  •  SQLite  •  ReportLab  •  python-pptx  •  Git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0" y="6547104"/>
            <a:ext cx="121916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4DE"/>
                </a:solidFill>
              </a:rPr>
              <a:t>Bluestock Fintech  |  MutualFundAnalytics  |  June 2026  | 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2575</Words>
  <Application>Microsoft Office PowerPoint</Application>
  <PresentationFormat>Widescreen</PresentationFormat>
  <Paragraphs>414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Karthikeya Bammidi</cp:lastModifiedBy>
  <cp:revision>2</cp:revision>
  <dcterms:created xsi:type="dcterms:W3CDTF">2013-01-27T09:14:16Z</dcterms:created>
  <dcterms:modified xsi:type="dcterms:W3CDTF">2026-06-11T16:58:31Z</dcterms:modified>
  <cp:category/>
</cp:coreProperties>
</file>